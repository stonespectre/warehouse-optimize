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98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91440" cy="256032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Location Optimization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4F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Case Study — Chennai, India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i="1" dirty="0">
                <a:solidFill>
                  <a:srgbClr val="6E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Uncapacitated Facility Location Problem (UFLP)  |  Operations Research | </a:t>
            </a:r>
            <a:r>
              <a:rPr lang="en-US" sz="1400" i="1">
                <a:solidFill>
                  <a:srgbClr val="6E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and Bound  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754880"/>
            <a:ext cx="8412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Logistics (3PL) Provider  •  Warehouse Network Design  •  Complete Enumeration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566928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3PL provider in Chennai must decide which warehouses to open and how to assign demand zones — minimising total logistics cost.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5176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75688"/>
            <a:ext cx="2651760" cy="868680"/>
          </a:xfrm>
          <a:prstGeom prst="rect">
            <a:avLst/>
          </a:prstGeom>
          <a:solidFill>
            <a:srgbClr val="E8EEF4"/>
          </a:solidFill>
          <a:ln w="12700">
            <a:solidFill>
              <a:srgbClr val="CADC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75688"/>
            <a:ext cx="2651760" cy="8686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warehouses to OPEN from predefined candidate locations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651760" cy="384048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691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075688"/>
            <a:ext cx="2651760" cy="868680"/>
          </a:xfrm>
          <a:prstGeom prst="rect">
            <a:avLst/>
          </a:prstGeom>
          <a:solidFill>
            <a:srgbClr val="E8EEF4"/>
          </a:solidFill>
          <a:ln w="12700">
            <a:solidFill>
              <a:srgbClr val="CADC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075688"/>
            <a:ext cx="2651760" cy="8686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ASSIGN each demand zone to an open warehouse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651760" cy="384048"/>
          </a:xfrm>
          <a:prstGeom prst="rect">
            <a:avLst/>
          </a:prstGeom>
          <a:solidFill>
            <a:srgbClr val="1B6E4A"/>
          </a:solidFill>
          <a:ln w="12700">
            <a:solidFill>
              <a:srgbClr val="1B6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691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075688"/>
            <a:ext cx="2651760" cy="868680"/>
          </a:xfrm>
          <a:prstGeom prst="rect">
            <a:avLst/>
          </a:prstGeom>
          <a:solidFill>
            <a:srgbClr val="E8EEF4"/>
          </a:solidFill>
          <a:ln w="12700">
            <a:solidFill>
              <a:srgbClr val="CADC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075688"/>
            <a:ext cx="2651760" cy="8686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Fixed warehouse cost + Variable transportation cost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8412480" cy="438912"/>
          </a:xfrm>
          <a:prstGeom prst="rect">
            <a:avLst/>
          </a:prstGeom>
          <a:solidFill>
            <a:srgbClr val="D9EAF7"/>
          </a:solidFill>
          <a:ln w="12700">
            <a:solidFill>
              <a:srgbClr val="B0C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546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 =  Fixed Warehouse Cost (incentive-adjusted)  +  Transportation Cost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Uncapacitated Facility Location Problem (UFLP)   |   Method: Complete Enumeration (all 7 warehouse combinations)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2793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enumeration?  </a:t>
            </a: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3 candidate facilities, the solution space has just 2^3 - 1 = 7 non-trivial subsets — making complete enumeration computationally trivial and fully transparent.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Why Chennai?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Powerhouse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to Hyundai, Foxconn, Renault-Nissan &amp; 1500+ Ambattur industrial units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972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🛣️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4813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Connectivity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NH-16, NH-32, NH-48 enable fast inter-city and last-mile logistics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0972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🏙️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14813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Urban-Suburban Mix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26480" y="17830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High-density residential cores (Anna Nagar) + suburban growth corridors (Tambaram, OMR)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312724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 Opportunity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e-commerce + B2B demand creates need for distributed, cost-efficient warehouse networks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65176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7432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0" y="312724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Incentives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91840" y="34290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NIMZ (Oragadam) and State MSME subsidy (Ambattur) significantly reduce effective fixed costs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265176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7432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35040" y="312724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Logistics Hub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26480" y="34290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port city + airfreight capacity — ideal testbed for UFLP modelling at metro scale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Modelling Framework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Uncapacitated Facility Location Problem (UFLP)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65760" cy="86868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3886200" cy="868680"/>
          </a:xfrm>
          <a:prstGeom prst="rect">
            <a:avLst/>
          </a:prstGeom>
          <a:solidFill>
            <a:srgbClr val="E8EEF4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733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Zones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9293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partitioned into 5 aggregated demand zones: residential, commercial, suburban, industrial, and tech corridor.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365760" cy="86868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0020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1600200"/>
            <a:ext cx="3886200" cy="868680"/>
          </a:xfrm>
          <a:prstGeom prst="rect">
            <a:avLst/>
          </a:prstGeom>
          <a:solidFill>
            <a:srgbClr val="E8EEF4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6733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Facilities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19293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pre-screened locations: Oragadam (W1), Ambattur (W2), Sriperumbudur (W3) — selected on infrastructure and policy merit.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365760" cy="86868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2697480"/>
            <a:ext cx="3886200" cy="868680"/>
          </a:xfrm>
          <a:prstGeom prst="rect">
            <a:avLst/>
          </a:prstGeom>
          <a:solidFill>
            <a:srgbClr val="E8EEF4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7706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Uncapacitated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02666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open warehouse can serve any number of zones. No throughput capacity constraint is imposed.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697480"/>
            <a:ext cx="365760" cy="86868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0" y="2697480"/>
            <a:ext cx="3886200" cy="868680"/>
          </a:xfrm>
          <a:prstGeom prst="rect">
            <a:avLst/>
          </a:prstGeom>
          <a:solidFill>
            <a:srgbClr val="E8EEF4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7706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Decisions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302666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warehouse: opened (y=1) or closed (y=0). Each zone assigned to exactly one open warehouse (x=1 or 0).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794760"/>
            <a:ext cx="365760" cy="86868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9476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520" y="3794760"/>
            <a:ext cx="3886200" cy="868680"/>
          </a:xfrm>
          <a:prstGeom prst="rect">
            <a:avLst/>
          </a:prstGeom>
          <a:solidFill>
            <a:srgbClr val="E8EEF4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8679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Costs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412394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costs proportional to distance. Fixed costs are government-incentive adjusted annual operating costs.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794760"/>
            <a:ext cx="365760" cy="86868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79476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29200" y="3794760"/>
            <a:ext cx="3886200" cy="868680"/>
          </a:xfrm>
          <a:prstGeom prst="rect">
            <a:avLst/>
          </a:prstGeom>
          <a:solidFill>
            <a:srgbClr val="E8EEF4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8679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412394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enumeration of all 2^3 - 1 = 7 non-empty subsets. Each zone assigned to cheapest available warehouse.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Zones — Chennai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627632" cy="4389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21615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Core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20040" y="1399032"/>
            <a:ext cx="16276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9903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Nagar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1627632" cy="2697480"/>
          </a:xfrm>
          <a:prstGeom prst="rect">
            <a:avLst/>
          </a:prstGeom>
          <a:solidFill>
            <a:srgbClr val="E8EEF4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2011680"/>
            <a:ext cx="118872" cy="118872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98424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Density: 25,000+/km²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2834640"/>
            <a:ext cx="118872" cy="118872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80720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apartment stock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" y="3657600"/>
            <a:ext cx="118872" cy="118872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63016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e-commerce penetration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39112" y="960120"/>
            <a:ext cx="1627632" cy="43891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39112" y="9601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39112" y="121615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Hub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039112" y="1399032"/>
            <a:ext cx="16276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39112" y="139903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Nagar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39112" y="1901952"/>
            <a:ext cx="1627632" cy="2697480"/>
          </a:xfrm>
          <a:prstGeom prst="rect">
            <a:avLst/>
          </a:prstGeom>
          <a:solidFill>
            <a:srgbClr val="E8EEF4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48840" y="2011680"/>
            <a:ext cx="118872" cy="11887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198424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retail zone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48840" y="2834640"/>
            <a:ext cx="118872" cy="11887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280720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goods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48840" y="3657600"/>
            <a:ext cx="118872" cy="11887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363016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daily footfall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58184" y="960120"/>
            <a:ext cx="1627632" cy="4389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58184" y="9601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758184" y="121615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Growth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758184" y="1399032"/>
            <a:ext cx="16276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58184" y="139903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Tambaram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758184" y="1901952"/>
            <a:ext cx="1627632" cy="2697480"/>
          </a:xfrm>
          <a:prstGeom prst="rect">
            <a:avLst/>
          </a:prstGeom>
          <a:solidFill>
            <a:srgbClr val="E8EEF4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67912" y="2011680"/>
            <a:ext cx="118872" cy="118872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50792" y="198424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urban expansion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67912" y="2834640"/>
            <a:ext cx="118872" cy="118872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50792" y="280720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Road (NH-32)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67912" y="3657600"/>
            <a:ext cx="118872" cy="118872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50792" y="363016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IT presence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77256" y="960120"/>
            <a:ext cx="1627632" cy="438912"/>
          </a:xfrm>
          <a:prstGeom prst="rect">
            <a:avLst/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77256" y="9601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477256" y="121615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/ B2B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477256" y="1399032"/>
            <a:ext cx="16276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77256" y="139903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Ambattur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77256" y="1901952"/>
            <a:ext cx="1627632" cy="2697480"/>
          </a:xfrm>
          <a:prstGeom prst="rect">
            <a:avLst/>
          </a:prstGeom>
          <a:solidFill>
            <a:srgbClr val="E8EEF4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86984" y="2011680"/>
            <a:ext cx="118872" cy="118872"/>
          </a:xfrm>
          <a:prstGeom prst="ellipse">
            <a:avLst/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9864" y="198424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1500+ industrial units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86984" y="2834640"/>
            <a:ext cx="118872" cy="118872"/>
          </a:xfrm>
          <a:prstGeom prst="ellipse">
            <a:avLst/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9864" y="280720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hub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86984" y="3657600"/>
            <a:ext cx="118872" cy="118872"/>
          </a:xfrm>
          <a:prstGeom prst="ellipse">
            <a:avLst/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9864" y="363016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demand dominant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96328" y="960120"/>
            <a:ext cx="1627632" cy="43891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96328" y="9601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7196328" y="121615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Corridor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196328" y="1399032"/>
            <a:ext cx="16276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96328" y="139903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Sholinganallur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196328" y="1901952"/>
            <a:ext cx="1627632" cy="2697480"/>
          </a:xfrm>
          <a:prstGeom prst="rect">
            <a:avLst/>
          </a:prstGeom>
          <a:solidFill>
            <a:srgbClr val="E8EEF4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06056" y="2011680"/>
            <a:ext cx="118872" cy="118872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88936" y="198424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IT corridor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306056" y="2834640"/>
            <a:ext cx="118872" cy="118872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88936" y="280720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Infosys, Cognizant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06056" y="3657600"/>
            <a:ext cx="118872" cy="118872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88936" y="363016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income population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Candidates — Infrastructure &amp; Policy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74320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— Oragadam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0040" y="1252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Corridor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435608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~45 km SW of Chennai CBD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709928"/>
            <a:ext cx="2743200" cy="201168"/>
          </a:xfrm>
          <a:prstGeom prst="rect">
            <a:avLst/>
          </a:prstGeom>
          <a:solidFill>
            <a:srgbClr val="E8EEF4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09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911096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11096"/>
            <a:ext cx="2560320" cy="685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NH-32 connectivity | Home to Hyundai, Renault-Nissan, Saint-Gobain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596896"/>
            <a:ext cx="2743200" cy="201168"/>
          </a:xfrm>
          <a:prstGeom prst="rect">
            <a:avLst/>
          </a:prstGeom>
          <a:solidFill>
            <a:srgbClr val="E8EEF4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96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INCENTIVE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798064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98064"/>
            <a:ext cx="2560320" cy="502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NIMZ — National Investment &amp; Manufacturing Zone incentive eligible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300984"/>
            <a:ext cx="274320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00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₹28L  |  Incentive ₹8L  |  Effective ₹20L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960120"/>
            <a:ext cx="2743200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960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— Ambattur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200400" y="1252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Estate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1435608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North-west Chennai, within GCC limits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1709928"/>
            <a:ext cx="2743200" cy="201168"/>
          </a:xfrm>
          <a:prstGeom prst="rect">
            <a:avLst/>
          </a:prstGeom>
          <a:solidFill>
            <a:srgbClr val="E8EEF4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1709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0" y="1911096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1911096"/>
            <a:ext cx="2560320" cy="685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NH-16 access | Ambattur railway station | Mature infrastructure, high workforce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2596896"/>
            <a:ext cx="2743200" cy="201168"/>
          </a:xfrm>
          <a:prstGeom prst="rect">
            <a:avLst/>
          </a:prstGeom>
          <a:solidFill>
            <a:srgbClr val="E8EEF4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2596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INCENTIVE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0" y="2798064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2798064"/>
            <a:ext cx="2560320" cy="502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MSME Subsidy — established industrial estate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3300984"/>
            <a:ext cx="274320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300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₹35L  |  Incentive ₹5L  |  Effective ₹30L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960120"/>
            <a:ext cx="2743200" cy="47548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960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— Sriperumbudur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080760" y="1252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Hub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80760" y="1435608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~42 km west on NH-48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80760" y="1709928"/>
            <a:ext cx="2743200" cy="201168"/>
          </a:xfrm>
          <a:prstGeom prst="rect">
            <a:avLst/>
          </a:prstGeom>
          <a:solidFill>
            <a:srgbClr val="E8EEF4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1709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80760" y="1911096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1911096"/>
            <a:ext cx="2560320" cy="685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to Foxconn &amp; Pegatron cluster | Closest railhead: Sriperumbudur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80760" y="2596896"/>
            <a:ext cx="2743200" cy="201168"/>
          </a:xfrm>
          <a:prstGeom prst="rect">
            <a:avLst/>
          </a:prstGeom>
          <a:solidFill>
            <a:srgbClr val="E8EEF4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2596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INCENTIVE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080760" y="2798064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2798064"/>
            <a:ext cx="2560320" cy="502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zone with state-level logistics incentives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080760" y="3300984"/>
            <a:ext cx="2743200" cy="45720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3300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₹22L  |  Incentive ₹7L  |  Effective ₹15L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JLL India Logistics Report 2023/24  |  Knight Frank India Warehousing Market Report 2024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AD86FB-3359-6187-94CA-78AADC4A02F5}"/>
              </a:ext>
            </a:extLst>
          </p:cNvPr>
          <p:cNvSpPr txBox="1"/>
          <p:nvPr/>
        </p:nvSpPr>
        <p:spPr>
          <a:xfrm>
            <a:off x="0" y="441543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Data Point: As of late 2024, the average Grade A rent in Chennai reached approximately</a:t>
            </a:r>
          </a:p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₹24.8 per sq 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Tables  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Transportation Cost Matrix  </a:t>
            </a:r>
            <a:r>
              <a:rPr lang="en-US" sz="1600" b="1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200" b="1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</a:t>
            </a: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(Rs. Lakhs / year)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8412480" cy="165506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Zone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W1 (Oragadam)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W2 (Ambattur)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W3 (Sriperumbudur)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Z1 (Anna Nagar)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96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4000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104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Z2 (T. Nagar)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84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4000"/>
                          </a:solidFill>
                        </a:rPr>
                        <a:t>36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96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Z3 (Tambaram)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4000"/>
                          </a:solidFill>
                        </a:rPr>
                        <a:t>56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76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70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Z4 (Ambattur)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104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4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110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Z5 (Sholinganallur)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76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4000"/>
                          </a:solidFill>
                        </a:rPr>
                        <a:t>64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90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2990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= minimum cost per zone (optimal single-warehouse assignment)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2: Fixed Cost with Government Incentives  </a:t>
            </a: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(Rs. Lakhs / year)</a:t>
            </a:r>
            <a:endParaRPr lang="en-US" sz="11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151440"/>
              </p:ext>
            </p:extLst>
          </p:nvPr>
        </p:nvGraphicFramePr>
        <p:xfrm>
          <a:off x="365760" y="3630168"/>
          <a:ext cx="8412480" cy="1295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Warehouse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Gross Cost 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Incentive </a:t>
                      </a:r>
                      <a:r>
                        <a:rPr lang="en-US" sz="1600" b="1" dirty="0" err="1">
                          <a:solidFill>
                            <a:srgbClr val="FFFFFF"/>
                          </a:solidFill>
                        </a:rPr>
                        <a:t>I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</a:rPr>
                        <a:t>j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Effective Cost 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*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W1 — Oragadam (NIMZ)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28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W2 — Ambattur (MSME Subsidy)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35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W3 — Sriperumbudur (State)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22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DD73183-824B-28B9-FBAA-E3A49AFD8C94}"/>
              </a:ext>
            </a:extLst>
          </p:cNvPr>
          <p:cNvSpPr txBox="1"/>
          <p:nvPr/>
        </p:nvSpPr>
        <p:spPr>
          <a:xfrm>
            <a:off x="2912012" y="295947"/>
            <a:ext cx="5866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CRISIL Logistics Outlook 2023 reports average LCV operating cost of ₹18–22/km. With a typical load factor of 10 consignments per trip: k = 20/10 = ₹2/km (conservative mid-estimate).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Model — UFLP Formulation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713232"/>
          </a:xfrm>
          <a:prstGeom prst="rect">
            <a:avLst/>
          </a:prstGeom>
          <a:solidFill>
            <a:srgbClr val="EAF4FB"/>
          </a:solidFill>
          <a:ln w="12700">
            <a:solidFill>
              <a:srgbClr val="C0D8E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Min  </a:t>
            </a:r>
            <a:r>
              <a:rPr lang="en-IN" sz="1600" dirty="0"/>
              <a:t>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1754241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Warehouse Cost (j = W1, W2, W3)</a:t>
            </a:r>
            <a:r>
              <a:rPr lang="en-US" sz="950" i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</a:t>
            </a:r>
            <a:r>
              <a:rPr lang="en-US" sz="950" b="1" i="1" dirty="0">
                <a:solidFill>
                  <a:srgbClr val="007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Transportation Cost (i = Z1,Z2,Z3,Z4,Z5)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8412480" cy="274320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Variables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2286000" cy="411480"/>
          </a:xfrm>
          <a:prstGeom prst="rect">
            <a:avLst/>
          </a:prstGeom>
          <a:solidFill>
            <a:srgbClr val="E8EEF4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04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{0,1}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2404872"/>
            <a:ext cx="6126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40487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if warehouse j is opened; 0 otherwise.  j in {W1, W2, W3}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2286000" cy="411480"/>
          </a:xfrm>
          <a:prstGeom prst="rect">
            <a:avLst/>
          </a:prstGeom>
          <a:solidFill>
            <a:srgbClr val="E8EEF4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{0,1}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51760" y="2880360"/>
            <a:ext cx="6126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8803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if demand zone i is assigned to warehouse j; 0 otherwise.  i in {Z1.,.Z5}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410712"/>
            <a:ext cx="8412480" cy="274320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107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365760" cy="338328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49040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749040"/>
            <a:ext cx="2468880" cy="338328"/>
          </a:xfrm>
          <a:prstGeom prst="rect">
            <a:avLst/>
          </a:prstGeom>
          <a:solidFill>
            <a:srgbClr val="EAF4FB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74904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749040"/>
            <a:ext cx="5577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749040"/>
            <a:ext cx="5394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demand zone assigned to exactly one warehouse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114800"/>
            <a:ext cx="365760" cy="338328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114800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4114800"/>
            <a:ext cx="2468880" cy="338328"/>
          </a:xfrm>
          <a:prstGeom prst="rect">
            <a:avLst/>
          </a:prstGeom>
          <a:solidFill>
            <a:srgbClr val="EAF4FB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11480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         for all i, j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4114800"/>
            <a:ext cx="5577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4114800"/>
            <a:ext cx="5394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zone can only be assigned to an open warehouse (         = 1)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480560"/>
            <a:ext cx="365760" cy="338328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480560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4480560"/>
            <a:ext cx="2468880" cy="338328"/>
          </a:xfrm>
          <a:prstGeom prst="rect">
            <a:avLst/>
          </a:prstGeom>
          <a:solidFill>
            <a:srgbClr val="EAF4FB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48056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2"/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       in {0, 1}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4480560"/>
            <a:ext cx="5577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4480560"/>
            <a:ext cx="5394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decision variables are binary integers</a:t>
            </a:r>
            <a:endParaRPr lang="en-US" sz="12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CD7E707-4874-B688-542F-2912FB800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702" y="1294227"/>
            <a:ext cx="3000794" cy="35591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0446287-21BA-F974-578D-C952FBB7D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289" y="2475683"/>
            <a:ext cx="257211" cy="26673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FAFB57C-276A-D9EF-3883-E49E697E2F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31" y="2962323"/>
            <a:ext cx="314369" cy="21910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E95E682-30FF-F158-69C1-CA212236D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2976897"/>
            <a:ext cx="314369" cy="21910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1C3C222-905A-EB2E-3953-40421153D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475683"/>
            <a:ext cx="257211" cy="26673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0A0B1DBC-6328-3845-EF88-7C4FEE055D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355" y="4540171"/>
            <a:ext cx="314369" cy="21910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03E2406-6628-0681-5894-E4DF927CF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444" y="4540170"/>
            <a:ext cx="257211" cy="21910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6E51C55-02FD-A529-8DEC-526DAAE2B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4557" y="4174410"/>
            <a:ext cx="257211" cy="21910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64A20D4-18FC-AC7F-91EE-28EEBED48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8960" y="4168784"/>
            <a:ext cx="314369" cy="21910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2C0C8EA-5194-AF22-2663-4BB4CAC4E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924" y="4183380"/>
            <a:ext cx="257211" cy="21910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86630AFE-ADB2-EE3B-2927-F757DBAB5A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7642" y="3765863"/>
            <a:ext cx="1142209" cy="3191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 — Complete Enumeration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3716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7360" y="1005840"/>
            <a:ext cx="7040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06070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All Subsets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4520" y="131673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2^3 - 1 = 7 non-empty subsets of {W1, W2, W3}: {W1}, {W2}, {W3}, {W1,W2}, {W1,W3}, {W2,W3}, {W1,W2,W3}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75104"/>
            <a:ext cx="13716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75104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737360" y="1975104"/>
            <a:ext cx="7040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202996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Zones Optimally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22860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subset, assign every demand zone to the open warehouse with minimum transportation cost </a:t>
            </a:r>
            <a:r>
              <a:rPr lang="en-US" sz="2000" dirty="0" err="1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050" dirty="0" err="1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</a:t>
            </a: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13716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4436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37360" y="2944368"/>
            <a:ext cx="7040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29992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 Cost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74520" y="325526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= Sum of effective fixed costs </a:t>
            </a:r>
            <a:r>
              <a:rPr lang="en-US" sz="16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6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</a:t>
            </a: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open warehouses + Sum of minimum transport costs for zone assignments.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913632"/>
            <a:ext cx="13716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1363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737360" y="3913632"/>
            <a:ext cx="7040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396849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Minimum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74520" y="42245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subset yielding the lowest total cost. This is the globally optimal solution, proven by exhaustive search.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727448"/>
            <a:ext cx="8412480" cy="416052"/>
          </a:xfrm>
          <a:prstGeom prst="rect">
            <a:avLst/>
          </a:prstGeom>
          <a:solidFill>
            <a:srgbClr val="EAF4FB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727448"/>
            <a:ext cx="8412480" cy="30175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enumeration over solvers?  </a:t>
            </a: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3 facilities (7 cases), enumeration is exact, transparent, and computationally instant — no need for branch-and-bound or LP relaxation.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Case-wise Enumeration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87552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057400" cy="502920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Only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5544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25880" y="193852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1874520" cy="384048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317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436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96312" y="987552"/>
            <a:ext cx="2057400" cy="1828800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96312" y="987552"/>
            <a:ext cx="205740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2496312" y="98755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Only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87752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02152" y="15544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87752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02152" y="193852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87752" y="2331720"/>
            <a:ext cx="18745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2587752" y="23317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240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96312" y="183548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72584" y="987552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72584" y="987552"/>
            <a:ext cx="2057400" cy="502920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72584" y="98755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Only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64024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78424" y="15544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64024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78424" y="193852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64024" y="2331720"/>
            <a:ext cx="1874520" cy="384048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64024" y="23317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485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48856" y="987552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8856" y="987552"/>
            <a:ext cx="2057400" cy="502920"/>
          </a:xfrm>
          <a:prstGeom prst="rect">
            <a:avLst/>
          </a:prstGeom>
          <a:solidFill>
            <a:srgbClr val="C17F24"/>
          </a:solidFill>
          <a:ln w="12700">
            <a:solidFill>
              <a:srgbClr val="C17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8856" y="98755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+ W2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0296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854696" y="15544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0296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854696" y="193852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40296" y="2331720"/>
            <a:ext cx="1874520" cy="384048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0296" y="23317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240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48856" y="184919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C17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</a:t>
            </a:r>
            <a:endParaRPr lang="en-US" sz="900" b="1" dirty="0"/>
          </a:p>
        </p:txBody>
      </p:sp>
      <p:sp>
        <p:nvSpPr>
          <p:cNvPr id="42" name="Shape 40"/>
          <p:cNvSpPr/>
          <p:nvPr/>
        </p:nvSpPr>
        <p:spPr>
          <a:xfrm>
            <a:off x="320040" y="2980944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2980944"/>
            <a:ext cx="2057400" cy="502920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298094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+ W3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" y="3547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325880" y="35478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325880" y="3931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11480" y="4325112"/>
            <a:ext cx="1874520" cy="384048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3251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249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496312" y="2980944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96312" y="2980944"/>
            <a:ext cx="2057400" cy="502920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96312" y="298094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+ W3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87752" y="3547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502152" y="35478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587752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Cost: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502152" y="3931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587752" y="4325112"/>
            <a:ext cx="1874520" cy="384048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87752" y="43251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451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672584" y="2980944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72584" y="2980944"/>
            <a:ext cx="2057400" cy="502920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72584" y="298094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764024" y="3547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678424" y="35478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764024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Cost: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678424" y="3931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764024" y="4325112"/>
            <a:ext cx="1874520" cy="384048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64024" y="43251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255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Case 4 (W1+W2) ties Case 2 at total cost 240 but requires higher fixed outlay (50 vs 30). Case 2 is preferred.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Comparison — All 7 Cases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67816"/>
              </p:ext>
            </p:extLst>
          </p:nvPr>
        </p:nvGraphicFramePr>
        <p:xfrm>
          <a:off x="365761" y="960120"/>
          <a:ext cx="8412480" cy="3328416"/>
        </p:xfrm>
        <a:graphic>
          <a:graphicData uri="http://schemas.openxmlformats.org/drawingml/2006/table">
            <a:tbl>
              <a:tblPr/>
              <a:tblGrid>
                <a:gridCol w="127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4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Warehouses Open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Transport Cost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Fixed Cost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Cost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7E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Case 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W1 only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416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436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Not Optimal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</a:rPr>
                        <a:t>Case 2  OPTIMAL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</a:rPr>
                        <a:t>W2 only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</a:rPr>
                        <a:t>210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240 — OPTIMAL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</a:rPr>
                        <a:t>✓ Selected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Case 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W3 only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470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485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Not Optimal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B4000"/>
                          </a:solidFill>
                        </a:rPr>
                        <a:t>Case 4  (Tie)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4000"/>
                          </a:solidFill>
                        </a:rPr>
                        <a:t>W1 + W2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4000"/>
                          </a:solidFill>
                        </a:rPr>
                        <a:t>190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4000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4000"/>
                          </a:solidFill>
                        </a:rPr>
                        <a:t>240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4000"/>
                          </a:solidFill>
                        </a:rPr>
                        <a:t>Tie — higher fixed cost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Case 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W2 + W3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204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249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Not Optimal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A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Case 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W1 + W3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416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35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451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Not Optimal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Case 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W1+W2+W3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190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65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255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Not Optimal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costs in Rs. Lakhs per annum. Case 4 ties Case 2 in total cost but incurs higher fixed outlay (50 vs 30).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Solution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4FC0D9"/>
          </a:solidFill>
          <a:ln w="12700">
            <a:solidFill>
              <a:srgbClr val="4FC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3794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WAREHOUSE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4447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— Ambattur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3383280" cy="0"/>
          </a:xfrm>
          <a:prstGeom prst="line">
            <a:avLst/>
          </a:prstGeom>
          <a:noFill/>
          <a:ln w="12700">
            <a:solidFill>
              <a:srgbClr val="D5F5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94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Cost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240 Lakhs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3044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 210  +  Fixed: 30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3383280" cy="0"/>
          </a:xfrm>
          <a:prstGeom prst="line">
            <a:avLst/>
          </a:prstGeom>
          <a:noFill/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472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Assignments: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 to W2 (cost 24)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9044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 to W2 (cost 36)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41056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to W2 (cost 76)*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43068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 to W2 (cost 10)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4507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 to W2 (cost 64)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960120"/>
            <a:ext cx="4206240" cy="877824"/>
          </a:xfrm>
          <a:prstGeom prst="rect">
            <a:avLst/>
          </a:prstGeom>
          <a:solidFill>
            <a:srgbClr val="1C3A54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0149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F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Location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63440" y="1280160"/>
            <a:ext cx="4023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Ambattur sits in NW Chennai — equidistant to commercial (T.Nagar), residential (Anna Nagar), and industrial demand zones.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911096"/>
            <a:ext cx="4206240" cy="877824"/>
          </a:xfrm>
          <a:prstGeom prst="rect">
            <a:avLst/>
          </a:prstGeom>
          <a:solidFill>
            <a:srgbClr val="1C3A54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965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F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Transport Costs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63440" y="2231136"/>
            <a:ext cx="4023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minimum or near-minimum transport cost for 4 of 5 zones, especially Z4 (10) and Z1 (24) — highest demand areas.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862072"/>
            <a:ext cx="4206240" cy="877824"/>
          </a:xfrm>
          <a:prstGeom prst="rect">
            <a:avLst/>
          </a:prstGeom>
          <a:solidFill>
            <a:srgbClr val="1C3A54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916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F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NH-16 Connectivity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63440" y="3182112"/>
            <a:ext cx="4023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highway access to Chennai-Kolkata corridor ensures reliable and fast last-mile delivery across the city.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813048"/>
            <a:ext cx="4206240" cy="877824"/>
          </a:xfrm>
          <a:prstGeom prst="rect">
            <a:avLst/>
          </a:prstGeom>
          <a:solidFill>
            <a:srgbClr val="1C3A54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8679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F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Incentive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663440" y="4133088"/>
            <a:ext cx="4023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subsidy reduces effective fixed cost from Rs. 35L to Rs. 30L — competitive despite highest gross rent among candidates.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E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 single-warehouse (W2 only) scenario, all zones served by W2. Z3 best served by W1 in multi-warehouse cases.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42062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Fixed vs Transport Trade-off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8404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warehouses reduces transport costs but increases total fixed costs. Case 7 has the lowest transport cost (190) yet the highest fixed cost (65) — net result suboptimal at 255.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05840"/>
            <a:ext cx="4114800" cy="420624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058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Centrality Dominates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463040"/>
            <a:ext cx="38404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(Ambattur) wins due to geographic centrality. Peripheral locations (W1, W3) serve remote zones cheaply but impose high costs on high-demand central zones.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07792"/>
            <a:ext cx="4114800" cy="420624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0779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Government Incentives Matter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364992"/>
            <a:ext cx="38404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Rs. 5L MSME subsidy, W2's effective fixed cost would be Rs. 35L — narrowing the advantage. Policy-adjusted costs are critical inputs to any real-world UFLP model.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90779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907792"/>
            <a:ext cx="4114800" cy="4206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90779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Location Dominance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364992"/>
            <a:ext cx="38404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offers strictly lower transport cost than W1 in 4 of 5 zones and lower than W3 in 4 of 5 zones — a dominant facility in Operations Research terminology.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</a:rPr>
              <a:t>Solution Method — Branch and Bound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3716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0D9"/>
                </a:solidFill>
                <a:latin typeface="Calibri" pitchFamily="34" charset="0"/>
              </a:rPr>
              <a:t>Step 1</a:t>
            </a:r>
          </a:p>
        </p:txBody>
      </p:sp>
      <p:sp>
        <p:nvSpPr>
          <p:cNvPr id="6" name="Shape 4"/>
          <p:cNvSpPr/>
          <p:nvPr/>
        </p:nvSpPr>
        <p:spPr>
          <a:xfrm>
            <a:off x="1737360" y="1005840"/>
            <a:ext cx="7040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06070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</a:rPr>
              <a:t>LP Relaxation — Obtain Lower Bound</a:t>
            </a:r>
          </a:p>
        </p:txBody>
      </p:sp>
      <p:sp>
        <p:nvSpPr>
          <p:cNvPr id="8" name="Text 6"/>
          <p:cNvSpPr/>
          <p:nvPr/>
        </p:nvSpPr>
        <p:spPr>
          <a:xfrm>
            <a:off x="1874520" y="131673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068"/>
                </a:solidFill>
                <a:latin typeface="Calibri" pitchFamily="34" charset="0"/>
              </a:rPr>
              <a:t>Relax binary constraints (</a:t>
            </a:r>
            <a:r>
              <a:rPr lang="en-US" sz="1600" dirty="0" err="1">
                <a:solidFill>
                  <a:srgbClr val="3A5068"/>
                </a:solidFill>
                <a:latin typeface="Calibri" pitchFamily="34" charset="0"/>
              </a:rPr>
              <a:t>Y</a:t>
            </a:r>
            <a:r>
              <a:rPr lang="en-US" sz="1100" dirty="0" err="1">
                <a:solidFill>
                  <a:srgbClr val="3A5068"/>
                </a:solidFill>
                <a:latin typeface="Calibri" pitchFamily="34" charset="0"/>
              </a:rPr>
              <a:t>j</a:t>
            </a:r>
            <a:r>
              <a:rPr lang="en-US" sz="1050" dirty="0">
                <a:solidFill>
                  <a:srgbClr val="3A5068"/>
                </a:solidFill>
                <a:latin typeface="Calibri" pitchFamily="34" charset="0"/>
              </a:rPr>
              <a:t>, </a:t>
            </a:r>
            <a:r>
              <a:rPr lang="en-US" sz="1600" dirty="0" err="1">
                <a:solidFill>
                  <a:srgbClr val="3A5068"/>
                </a:solidFill>
                <a:latin typeface="Calibri" pitchFamily="34" charset="0"/>
              </a:rPr>
              <a:t>X</a:t>
            </a:r>
            <a:r>
              <a:rPr lang="en-US" sz="1100" dirty="0" err="1">
                <a:solidFill>
                  <a:srgbClr val="3A5068"/>
                </a:solidFill>
                <a:latin typeface="Calibri" pitchFamily="34" charset="0"/>
              </a:rPr>
              <a:t>ij</a:t>
            </a:r>
            <a:r>
              <a:rPr lang="en-US" sz="1600" dirty="0">
                <a:solidFill>
                  <a:srgbClr val="3A5068"/>
                </a:solidFill>
                <a:latin typeface="Calibri" pitchFamily="34" charset="0"/>
              </a:rPr>
              <a:t> </a:t>
            </a:r>
            <a:r>
              <a:rPr lang="en-US" sz="1050" dirty="0">
                <a:solidFill>
                  <a:srgbClr val="3A5068"/>
                </a:solidFill>
                <a:latin typeface="Calibri" pitchFamily="34" charset="0"/>
              </a:rPr>
              <a:t>in [0,1]). Solve LP to get lower bound ≈ Rs. 220 Lakhs — the optimal integer solution cannot be below this value.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1975104"/>
            <a:ext cx="13716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75104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0D9"/>
                </a:solidFill>
                <a:latin typeface="Calibri" pitchFamily="34" charset="0"/>
              </a:rPr>
              <a:t>Step 2</a:t>
            </a:r>
          </a:p>
        </p:txBody>
      </p:sp>
      <p:sp>
        <p:nvSpPr>
          <p:cNvPr id="11" name="Shape 9"/>
          <p:cNvSpPr/>
          <p:nvPr/>
        </p:nvSpPr>
        <p:spPr>
          <a:xfrm>
            <a:off x="1737360" y="1975104"/>
            <a:ext cx="7040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202996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</a:rPr>
              <a:t>Branch on Decision Variables</a:t>
            </a:r>
          </a:p>
        </p:txBody>
      </p:sp>
      <p:sp>
        <p:nvSpPr>
          <p:cNvPr id="13" name="Text 11"/>
          <p:cNvSpPr/>
          <p:nvPr/>
        </p:nvSpPr>
        <p:spPr>
          <a:xfrm>
            <a:off x="1874520" y="22860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068"/>
                </a:solidFill>
                <a:latin typeface="Calibri" pitchFamily="34" charset="0"/>
              </a:rPr>
              <a:t>LP solution is non-integral. Branch on </a:t>
            </a:r>
            <a:r>
              <a:rPr lang="en-US" sz="1600" dirty="0" err="1">
                <a:solidFill>
                  <a:srgbClr val="3A5068"/>
                </a:solidFill>
                <a:latin typeface="Calibri" pitchFamily="34" charset="0"/>
              </a:rPr>
              <a:t>Y</a:t>
            </a:r>
            <a:r>
              <a:rPr lang="en-US" sz="1200" dirty="0" err="1">
                <a:solidFill>
                  <a:srgbClr val="3A5068"/>
                </a:solidFill>
                <a:latin typeface="Calibri" pitchFamily="34" charset="0"/>
              </a:rPr>
              <a:t>j</a:t>
            </a:r>
            <a:r>
              <a:rPr lang="en-US" sz="1600" dirty="0">
                <a:solidFill>
                  <a:srgbClr val="3A5068"/>
                </a:solidFill>
                <a:latin typeface="Calibri" pitchFamily="34" charset="0"/>
              </a:rPr>
              <a:t> </a:t>
            </a:r>
            <a:r>
              <a:rPr lang="en-US" sz="1050" dirty="0">
                <a:solidFill>
                  <a:srgbClr val="3A5068"/>
                </a:solidFill>
                <a:latin typeface="Calibri" pitchFamily="34" charset="0"/>
              </a:rPr>
              <a:t>variables — create subproblems fixing </a:t>
            </a:r>
            <a:r>
              <a:rPr lang="en-US" sz="1600" dirty="0" err="1">
                <a:solidFill>
                  <a:srgbClr val="3A5068"/>
                </a:solidFill>
                <a:latin typeface="Calibri" pitchFamily="34" charset="0"/>
              </a:rPr>
              <a:t>Y</a:t>
            </a:r>
            <a:r>
              <a:rPr lang="en-US" sz="1400" dirty="0" err="1">
                <a:solidFill>
                  <a:srgbClr val="3A5068"/>
                </a:solidFill>
                <a:latin typeface="Calibri" pitchFamily="34" charset="0"/>
              </a:rPr>
              <a:t>j</a:t>
            </a:r>
            <a:r>
              <a:rPr lang="en-US" sz="1600" dirty="0">
                <a:solidFill>
                  <a:srgbClr val="3A5068"/>
                </a:solidFill>
                <a:latin typeface="Calibri" pitchFamily="34" charset="0"/>
              </a:rPr>
              <a:t> </a:t>
            </a:r>
            <a:r>
              <a:rPr lang="en-US" sz="1050" dirty="0">
                <a:solidFill>
                  <a:srgbClr val="3A5068"/>
                </a:solidFill>
                <a:latin typeface="Calibri" pitchFamily="34" charset="0"/>
              </a:rPr>
              <a:t>= 0 or </a:t>
            </a:r>
            <a:r>
              <a:rPr lang="en-US" sz="1600" dirty="0" err="1">
                <a:solidFill>
                  <a:srgbClr val="3A5068"/>
                </a:solidFill>
                <a:latin typeface="Calibri" pitchFamily="34" charset="0"/>
              </a:rPr>
              <a:t>Y</a:t>
            </a:r>
            <a:r>
              <a:rPr lang="en-US" sz="1400" dirty="0" err="1">
                <a:solidFill>
                  <a:srgbClr val="3A5068"/>
                </a:solidFill>
                <a:latin typeface="Calibri" pitchFamily="34" charset="0"/>
              </a:rPr>
              <a:t>j</a:t>
            </a:r>
            <a:r>
              <a:rPr lang="en-US" sz="1600" dirty="0">
                <a:solidFill>
                  <a:srgbClr val="3A5068"/>
                </a:solidFill>
                <a:latin typeface="Calibri" pitchFamily="34" charset="0"/>
              </a:rPr>
              <a:t> </a:t>
            </a:r>
            <a:r>
              <a:rPr lang="en-US" sz="1050" dirty="0">
                <a:solidFill>
                  <a:srgbClr val="3A5068"/>
                </a:solidFill>
                <a:latin typeface="Calibri" pitchFamily="34" charset="0"/>
              </a:rPr>
              <a:t>= 1. Each branch forms a constrained subproblem with updated bounds.</a:t>
            </a:r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13716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4436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0D9"/>
                </a:solidFill>
                <a:latin typeface="Calibri" pitchFamily="34" charset="0"/>
              </a:rPr>
              <a:t>Step 3</a:t>
            </a:r>
          </a:p>
        </p:txBody>
      </p:sp>
      <p:sp>
        <p:nvSpPr>
          <p:cNvPr id="16" name="Shape 14"/>
          <p:cNvSpPr/>
          <p:nvPr/>
        </p:nvSpPr>
        <p:spPr>
          <a:xfrm>
            <a:off x="1737360" y="2944368"/>
            <a:ext cx="7040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29992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</a:rPr>
              <a:t>Evaluate Subproblems and Prune Branches</a:t>
            </a:r>
          </a:p>
        </p:txBody>
      </p:sp>
      <p:sp>
        <p:nvSpPr>
          <p:cNvPr id="18" name="Text 16"/>
          <p:cNvSpPr/>
          <p:nvPr/>
        </p:nvSpPr>
        <p:spPr>
          <a:xfrm>
            <a:off x="1874520" y="325526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068"/>
                </a:solidFill>
                <a:latin typeface="Calibri" pitchFamily="34" charset="0"/>
              </a:rPr>
              <a:t>At each node, assign zones to cheapest open warehouse. If the node bound exceeds the current best integer cost, prune it. Repeat until all branches resolved or pruned.</a:t>
            </a:r>
          </a:p>
        </p:txBody>
      </p:sp>
      <p:sp>
        <p:nvSpPr>
          <p:cNvPr id="19" name="Shape 17"/>
          <p:cNvSpPr/>
          <p:nvPr/>
        </p:nvSpPr>
        <p:spPr>
          <a:xfrm>
            <a:off x="365760" y="3913632"/>
            <a:ext cx="13716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1363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0D9"/>
                </a:solidFill>
                <a:latin typeface="Calibri" pitchFamily="34" charset="0"/>
              </a:rPr>
              <a:t>Step 4</a:t>
            </a:r>
          </a:p>
        </p:txBody>
      </p:sp>
      <p:sp>
        <p:nvSpPr>
          <p:cNvPr id="21" name="Shape 19"/>
          <p:cNvSpPr/>
          <p:nvPr/>
        </p:nvSpPr>
        <p:spPr>
          <a:xfrm>
            <a:off x="1737360" y="3913632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3968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</a:rPr>
              <a:t>Select Optimal Integer Solution</a:t>
            </a:r>
          </a:p>
        </p:txBody>
      </p:sp>
      <p:sp>
        <p:nvSpPr>
          <p:cNvPr id="23" name="Text 21"/>
          <p:cNvSpPr/>
          <p:nvPr/>
        </p:nvSpPr>
        <p:spPr>
          <a:xfrm>
            <a:off x="1874520" y="4224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068"/>
                </a:solidFill>
                <a:latin typeface="Calibri" pitchFamily="34" charset="0"/>
              </a:rPr>
              <a:t>W2 (Ambattur) only selected. Transport = 210, Fixed = 30. Z = Rs. 240 Lakhs — proven globally optimal by B&amp;B.</a:t>
            </a:r>
          </a:p>
        </p:txBody>
      </p:sp>
      <p:sp>
        <p:nvSpPr>
          <p:cNvPr id="24" name="Shape 22"/>
          <p:cNvSpPr/>
          <p:nvPr/>
        </p:nvSpPr>
        <p:spPr>
          <a:xfrm>
            <a:off x="5669040" y="3913632"/>
            <a:ext cx="31092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040" y="3913632"/>
            <a:ext cx="310920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0D9"/>
                </a:solidFill>
                <a:latin typeface="Calibri" pitchFamily="34" charset="0"/>
              </a:rPr>
              <a:t>OPTIMAL  |  W2 (Ambattur)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Z = Rs. 240 Lakhs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A0C8E0"/>
                </a:solidFill>
                <a:latin typeface="Calibri" pitchFamily="34" charset="0"/>
              </a:rPr>
              <a:t>Transport 210  +  Fixed 30</a:t>
            </a:r>
          </a:p>
        </p:txBody>
      </p:sp>
      <p:sp>
        <p:nvSpPr>
          <p:cNvPr id="26" name="Shape 24"/>
          <p:cNvSpPr/>
          <p:nvPr/>
        </p:nvSpPr>
        <p:spPr>
          <a:xfrm>
            <a:off x="70340" y="4793904"/>
            <a:ext cx="9003322" cy="349596"/>
          </a:xfrm>
          <a:prstGeom prst="rect">
            <a:avLst/>
          </a:prstGeom>
          <a:solidFill>
            <a:srgbClr val="EAF4FB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339" y="4793904"/>
            <a:ext cx="9003323" cy="349596"/>
          </a:xfrm>
          <a:prstGeom prst="rect">
            <a:avLst/>
          </a:prstGeom>
          <a:noFill/>
          <a:ln/>
        </p:spPr>
        <p:txBody>
          <a:bodyPr wrap="square" lIns="76200" tIns="60960" rIns="762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</a:rPr>
              <a:t>Zone Assignments (W2 only):  </a:t>
            </a:r>
            <a:r>
              <a:rPr lang="en-US" sz="900" dirty="0">
                <a:solidFill>
                  <a:srgbClr val="3A5068"/>
                </a:solidFill>
                <a:latin typeface="Calibri" pitchFamily="34" charset="0"/>
              </a:rPr>
              <a:t>Z1→W2 (24)  |  Z2→W2 (36)  |  Z3→W2 (76)  |  Z4→W2 (10)  |  Z5→W2 (64)    </a:t>
            </a:r>
          </a:p>
          <a:p>
            <a:pPr marL="0" indent="0" algn="l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</a:rPr>
              <a:t>LP lower bound ≈ 220  →  Integer gap closed by branching  →  B&amp;B confirms Z = 240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D09A42-C0CE-83D3-860E-5CC79FBBA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46" y="133642"/>
            <a:ext cx="8778239" cy="486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1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4FC0D9"/>
          </a:solidFill>
          <a:ln w="12700">
            <a:solidFill>
              <a:srgbClr val="4FC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54864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UFLP was successfully applied to model and solve a real-world 3PL warehouse network design problem for Chennai, India.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548640" cy="64008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642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664208"/>
            <a:ext cx="7863840" cy="640080"/>
          </a:xfrm>
          <a:prstGeom prst="rect">
            <a:avLst/>
          </a:prstGeom>
          <a:solidFill>
            <a:srgbClr val="1C3A54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09928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Solution Found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984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(Ambattur) is the single optimal warehouse with total cost = Rs. 240 Lakhs/year — minimum across all 7 enumerated combinations.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548640" cy="64008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3230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2432304"/>
            <a:ext cx="7863840" cy="640080"/>
          </a:xfrm>
          <a:prstGeom prst="rect">
            <a:avLst/>
          </a:prstGeom>
          <a:solidFill>
            <a:srgbClr val="1C3A54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47802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Validity Confirmed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75234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UFLP correctly captures binary open/close decisions, zone-to-facility assignment, and additive fixed + variable cost objectives.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548640" cy="64008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00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200400"/>
            <a:ext cx="7863840" cy="640080"/>
          </a:xfrm>
          <a:prstGeom prst="rect">
            <a:avLst/>
          </a:prstGeom>
          <a:solidFill>
            <a:srgbClr val="1C3A54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246120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Grounding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5204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sourced from JLL India / Knight Frank 2023-24 reports. Demand zones reflect actual Chennai urban-industrial geography.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68496"/>
            <a:ext cx="548640" cy="64008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6849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3968496"/>
            <a:ext cx="7863840" cy="640080"/>
          </a:xfrm>
          <a:prstGeom prst="rect">
            <a:avLst/>
          </a:prstGeom>
          <a:solidFill>
            <a:srgbClr val="1C3A54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01421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 Suitability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28853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|J| = 3, complete enumeration provides exact, provably optimal, and fully transparent results with no approximation error.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Location Optimization — Chennai UFLP Case Study  |  Operations Research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2131</Words>
  <Application>Microsoft Office PowerPoint</Application>
  <PresentationFormat>On-screen Show (16:9)</PresentationFormat>
  <Paragraphs>370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Facility Location Optimization – Chennai UFLP Case Study</dc:title>
  <dc:subject>PptxGenJS Presentation</dc:subject>
  <dc:creator>PptxGenJS</dc:creator>
  <cp:lastModifiedBy>Prince Kumar</cp:lastModifiedBy>
  <cp:revision>6</cp:revision>
  <dcterms:created xsi:type="dcterms:W3CDTF">2026-04-18T11:28:52Z</dcterms:created>
  <dcterms:modified xsi:type="dcterms:W3CDTF">2026-04-23T09:46:26Z</dcterms:modified>
</cp:coreProperties>
</file>